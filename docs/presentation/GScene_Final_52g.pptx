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6ab7920e5b54342" /><Relationship Type="http://schemas.openxmlformats.org/officeDocument/2006/relationships/extended-properties" Target="/docProps/app.xml" Id="Rc17fef5c022a4421" /><Relationship Type="http://schemas.openxmlformats.org/officeDocument/2006/relationships/officeDocument" Target="/ppt/presentation.xml" Id="R71c810cdf4374b0f" /></Relationships>
</file>

<file path=ppt/presentation.xml><?xml version="1.0" encoding="utf-8"?>
<p:presentation xmlns:p="http://schemas.openxmlformats.org/presentationml/2006/main">
  <p:sldMasterIdLst>
    <p:sldMasterId xmlns:r="http://schemas.openxmlformats.org/officeDocument/2006/relationships" id="2147483648" r:id="R78817fa7451546d4"/>
  </p:sldMasterIdLst>
  <p:notesMasterIdLst>
    <p:notesMasterId xmlns:r="http://schemas.openxmlformats.org/officeDocument/2006/relationships" r:id="Rf81136d8d96a434f"/>
  </p:notesMasterIdLst>
  <p:sldIdLst>
    <p:sldId xmlns:r="http://schemas.openxmlformats.org/officeDocument/2006/relationships" id="256" r:id="Rcd9f5941cb25432b"/>
    <p:sldId xmlns:r="http://schemas.openxmlformats.org/officeDocument/2006/relationships" id="257" r:id="R15779409f11643ed"/>
    <p:sldId xmlns:r="http://schemas.openxmlformats.org/officeDocument/2006/relationships" id="258" r:id="R3197f584361a44db"/>
    <p:sldId xmlns:r="http://schemas.openxmlformats.org/officeDocument/2006/relationships" id="259" r:id="R65af193d02ac48cb"/>
    <p:sldId xmlns:r="http://schemas.openxmlformats.org/officeDocument/2006/relationships" id="260" r:id="Re860f7882d0e4cb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81349f2a41f431e" /><Relationship Type="http://schemas.openxmlformats.org/officeDocument/2006/relationships/slideMaster" Target="/ppt/slideMasters/slideMaster1.xml" Id="R78817fa7451546d4" /><Relationship Type="http://schemas.openxmlformats.org/officeDocument/2006/relationships/notesMaster" Target="/ppt/notesMasters/notesMaster1.xml" Id="Rf81136d8d96a434f" /><Relationship Type="http://schemas.openxmlformats.org/officeDocument/2006/relationships/presProps" Target="/ppt/presProps.xml" Id="R1b90ea1674ef4e16" /><Relationship Type="http://schemas.openxmlformats.org/officeDocument/2006/relationships/tableStyles" Target="/ppt/tableStyles.xml" Id="R13e7e4a86fcd484f" /><Relationship Type="http://schemas.openxmlformats.org/officeDocument/2006/relationships/slide" Target="/ppt/slides/slide1.xml" Id="Rcd9f5941cb25432b" /><Relationship Type="http://schemas.openxmlformats.org/officeDocument/2006/relationships/slide" Target="/ppt/slides/slide2.xml" Id="R15779409f11643ed" /><Relationship Type="http://schemas.openxmlformats.org/officeDocument/2006/relationships/slide" Target="/ppt/slides/slide3.xml" Id="R3197f584361a44db" /><Relationship Type="http://schemas.openxmlformats.org/officeDocument/2006/relationships/slide" Target="/ppt/slides/slide4.xml" Id="R65af193d02ac48cb" /><Relationship Type="http://schemas.openxmlformats.org/officeDocument/2006/relationships/slide" Target="/ppt/slides/slide5.xml" Id="Re860f7882d0e4cb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cea51d8da6d4f2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33358b7d37d423e" /><Relationship Type="http://schemas.openxmlformats.org/officeDocument/2006/relationships/notesMaster" Target="/ppt/notesMasters/notesMaster1.xml" Id="R0e6b16f3bc164f6b" /></Relationships>
</file>

<file path=ppt/notesSlides/_rels/notesSlide2.xml.rels>&#65279;<?xml version="1.0" encoding="utf-8"?><Relationships xmlns="http://schemas.openxmlformats.org/package/2006/relationships"><Relationship Type="http://schemas.openxmlformats.org/officeDocument/2006/relationships/slide" Target="/ppt/slides/slide2.xml" Id="R402424efca874080" /><Relationship Type="http://schemas.openxmlformats.org/officeDocument/2006/relationships/notesMaster" Target="/ppt/notesMasters/notesMaster1.xml" Id="R0b0c1cc7b2ed4780" /></Relationships>
</file>

<file path=ppt/notesSlides/_rels/notesSlide3.xml.rels>&#65279;<?xml version="1.0" encoding="utf-8"?><Relationships xmlns="http://schemas.openxmlformats.org/package/2006/relationships"><Relationship Type="http://schemas.openxmlformats.org/officeDocument/2006/relationships/slide" Target="/ppt/slides/slide3.xml" Id="Rc200963472b4423c" /><Relationship Type="http://schemas.openxmlformats.org/officeDocument/2006/relationships/notesMaster" Target="/ppt/notesMasters/notesMaster1.xml" Id="R246616866c19492f" /></Relationships>
</file>

<file path=ppt/notesSlides/_rels/notesSlide4.xml.rels>&#65279;<?xml version="1.0" encoding="utf-8"?><Relationships xmlns="http://schemas.openxmlformats.org/package/2006/relationships"><Relationship Type="http://schemas.openxmlformats.org/officeDocument/2006/relationships/slide" Target="/ppt/slides/slide4.xml" Id="Recaea79004b04e05" /><Relationship Type="http://schemas.openxmlformats.org/officeDocument/2006/relationships/notesMaster" Target="/ppt/notesMasters/notesMaster1.xml" Id="Rbe91c46ace304417" /></Relationships>
</file>

<file path=ppt/notesSlides/_rels/notesSlide5.xml.rels>&#65279;<?xml version="1.0" encoding="utf-8"?><Relationships xmlns="http://schemas.openxmlformats.org/package/2006/relationships"><Relationship Type="http://schemas.openxmlformats.org/officeDocument/2006/relationships/slide" Target="/ppt/slides/slide5.xml" Id="Rae03ce7fe7cf4edb" /><Relationship Type="http://schemas.openxmlformats.org/officeDocument/2006/relationships/notesMaster" Target="/ppt/notesMasters/notesMaster1.xml" Id="Rc6f5379daa264f8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docs/ideas/doc03_final_ideation.md; docs/criterion/crit00_proj_guide.md; docs/design/room_commerce_contract.md; docs/design/release_verification.md; docs/logs/nightly_2026-09-21.md. All are repository-supplied sources, not external research.</a:t>
            </a:r>
          </a:p>
          <a:p xmlns:a="http://schemas.openxmlformats.org/drawingml/2006/main">
            <a:r>
              <a:t>문제 정의는 기획의 가설이다. 인터뷰 원문, 고객 조사 결과, 전환 성과를 인용하지 않는다. 2030 고객이 상품을 자신의 생활과 연결해 상상하기 어렵다는 문제에서 출발한다.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docs/ideas/doc03_final_ideation.md; docs/criterion/crit00_proj_guide.md; docs/design/room_commerce_contract.md; docs/design/release_verification.md; docs/logs/nightly_2026-09-21.md. All are repository-supplied sources, not external research.</a:t>
            </a:r>
          </a:p>
          <a:p xmlns:a="http://schemas.openxmlformats.org/drawingml/2006/main">
            <a:r>
              <a:t>보유한 상품이 놓이는 생활 공간을 다음 쇼핑의 출발점으로 삼는 제품 방향. Screenshot: outputs/release-qa/living-320-public.png, actual rendered prototype before overnight polish. The room artwork is illustrative, not a product photograph or virtual fitting.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docs/ideas/doc03_final_ideation.md; docs/criterion/crit00_proj_guide.md; docs/design/room_commerce_contract.md; docs/design/release_verification.md; docs/logs/nightly_2026-09-21.md. All are repository-supplied sources, not external research.</a:t>
            </a:r>
          </a:p>
          <a:p xmlns:a="http://schemas.openxmlformats.org/drawingml/2006/main">
            <a:r>
              <a:t>Screenshot: outputs/nightly-qa/integrated/room-applied-shirt-390.png, actual integrated prototype captured during Main QA. 가상 고객의 실상품 카탈로그 연결 구매 물건을 공간에 표시한다. Figure crop retains Fashion/Food/Living/Beauty labels. Actual purchase ownership is fictional; character art is a generalized illustration.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docs/ideas/doc03_final_ideation.md; docs/criterion/crit00_proj_guide.md; docs/design/room_commerce_contract.md; docs/design/release_verification.md; docs/logs/nightly_2026-09-21.md. All are repository-supplied sources, not external research.</a:t>
            </a:r>
          </a:p>
          <a:p xmlns:a="http://schemas.openxmlformats.org/drawingml/2006/main">
            <a:r>
              <a:t>Actual consecutive integrated scenario from Main QA: same fictional user 민서 and avatar M01, initial knit product 1106041553, supported owned shirt product 1083830467. wardrobe-open-390.png shows engaged browsing; fashion-apply-390.png shows completed temporary shirt preview plus explicit apply CTA; room-applied-shirt-390.png shows returned character with the same confirmed shirt ID. Main verified first rapid taps stayed in room, ready second tap navigated to Fashion, explicit apply preserved identity on return. Screenshots: outputs/nightly-qa/integrated/. Image crops only; no UI or character resynthesis. These are functional observations, not customer-outcome validation.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docs/ideas/doc03_final_ideation.md; docs/criterion/crit00_proj_guide.md; docs/design/room_commerce_contract.md; docs/design/release_verification.md; docs/logs/nightly_2026-09-21.md. All are repository-supplied sources, not external research.</a:t>
            </a:r>
          </a:p>
          <a:p xmlns:a="http://schemas.openxmlformats.org/drawingml/2006/main">
            <a:r>
              <a:t>Product significance is a hypothesis, not validated business impact. Agent execution is evidenced by the documented split between builders and visual QA, review/fix/retest records, and release checks. No claim of customer validation, uplift, automation percentage, speed comparison, or unsupported outcomes.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f4dd5fc1ffd488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eb02d8ea79d4393" /><Relationship Type="http://schemas.openxmlformats.org/officeDocument/2006/relationships/slideLayout" Target="/ppt/slideLayouts/slideLayout1.xml" Id="R91bf80320976492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1bf80320976492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393f00084268480e" /><Relationship Type="http://schemas.openxmlformats.org/officeDocument/2006/relationships/notesSlide" Target="/ppt/notesSlides/notesSlide1.xml" Id="R759f498afe764ff2"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a306077d26514a03" /><Relationship Type="http://schemas.openxmlformats.org/officeDocument/2006/relationships/image" Target="/ppt/media/image.png" Id="R086b15588b8d42df" /><Relationship Type="http://schemas.openxmlformats.org/officeDocument/2006/relationships/notesSlide" Target="/ppt/notesSlides/notesSlide2.xml" Id="R7849f87a5ae04bff"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26ae2cb2e2104a0e" /><Relationship Type="http://schemas.openxmlformats.org/officeDocument/2006/relationships/image" Target="/ppt/media/image2.png" Id="R22520a775bec4f42" /><Relationship Type="http://schemas.openxmlformats.org/officeDocument/2006/relationships/notesSlide" Target="/ppt/notesSlides/notesSlide3.xml" Id="R7c20361aefc747ea"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8674ba8cfe674abd" /><Relationship Type="http://schemas.openxmlformats.org/officeDocument/2006/relationships/image" Target="/ppt/media/image3.png" Id="R99517197e7af4004" /><Relationship Type="http://schemas.openxmlformats.org/officeDocument/2006/relationships/image" Target="/ppt/media/image4.png" Id="Re4f63e77c70f4d53" /><Relationship Type="http://schemas.openxmlformats.org/officeDocument/2006/relationships/image" Target="/ppt/media/image5.png" Id="Ref0e9f6c746847bd" /><Relationship Type="http://schemas.openxmlformats.org/officeDocument/2006/relationships/notesSlide" Target="/ppt/notesSlides/notesSlide4.xml" Id="Rb50878e56bf142b2"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db700adf69334ef9" /><Relationship Type="http://schemas.openxmlformats.org/officeDocument/2006/relationships/notesSlide" Target="/ppt/notesSlides/notesSlide5.xml" Id="R0d81a4fced36483a" /></Relationships>
</file>

<file path=ppt/slides/slide1.xml><?xml version="1.0" encoding="utf-8"?>
<p:sld xmlns:p="http://schemas.openxmlformats.org/presentationml/2006/main">
  <p:cSld>
    <p:bg>
      <p:bgPr>
        <a:solidFill xmlns:a="http://schemas.openxmlformats.org/drawingml/2006/main">
          <a:srgbClr val="263F35"/>
        </a:solidFill>
      </p:bgPr>
    </p:bg>
    <p:spTree>
      <p:nvGrpSpPr>
        <p:cNvPr id="1" name=""/>
        <p:cNvGrpSpPr/>
        <p:nvPr/>
      </p:nvGrpSpPr>
      <p:grpSpPr>
        <a:xfrm xmlns:a="http://schemas.openxmlformats.org/drawingml/2006/main"/>
      </p:grpSpPr>
      <p:sp>
        <p:nvSpPr>
          <p:cNvPr id="5" name="brand">
            <a:extLst xmlns:a="http://schemas.openxmlformats.org/drawingml/2006/main">
              <a:ext uri="{FF2B5EF4-FFF2-40B4-BE49-F238E27FC236}">
                <a16:creationId xmlns:a16="http://schemas.microsoft.com/office/drawing/2014/main" id="{DCCC8D51-FE2C-4C39-AB04-FBC84E3A842C}"/>
              </a:ext>
            </a:extLst>
          </p:cNvPr>
          <p:cNvSpPr>
            <a:spLocks xmlns:a="http://schemas.openxmlformats.org/drawingml/2006/main" noGrp="1"/>
          </p:cNvSpPr>
          <p:nvPr/>
        </p:nvSpPr>
        <p:spPr>
          <a:xfrm xmlns:a="http://schemas.openxmlformats.org/drawingml/2006/main">
            <a:off x="666750" y="438150"/>
            <a:ext cx="3810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1">
                <a:solidFill>
                  <a:srgbClr val="F5F3EB"/>
                </a:solidFill>
                <a:latin typeface="IBM Plex Sans KR"/>
                <a:ea typeface="IBM Plex Sans KR"/>
                <a:cs typeface="IBM Plex Sans KR"/>
              </a:defRPr>
            </a:pPr>
            <a:r>
              <a:rPr sz="2550" b="1">
                <a:solidFill>
                  <a:srgbClr val="F5F3EB"/>
                </a:solidFill>
                <a:latin typeface="IBM Plex Sans KR"/>
                <a:ea typeface="IBM Plex Sans KR"/>
                <a:cs typeface="IBM Plex Sans KR"/>
              </a:rPr>
              <a:t>G:Scene</a:t>
            </a:r>
          </a:p>
        </p:txBody>
      </p:sp>
      <p:sp>
        <p:nvSpPr>
          <p:cNvPr id="2" name="problem-headline">
            <a:extLst xmlns:a="http://schemas.openxmlformats.org/drawingml/2006/main">
              <a:ext uri="{FF2B5EF4-FFF2-40B4-BE49-F238E27FC236}">
                <a16:creationId xmlns:a16="http://schemas.microsoft.com/office/drawing/2014/main" id="{277070AF-2BC5-4C86-B9B4-D5D2A718E700}"/>
              </a:ext>
            </a:extLst>
          </p:cNvPr>
          <p:cNvSpPr>
            <a:spLocks xmlns:a="http://schemas.openxmlformats.org/drawingml/2006/main" noGrp="1"/>
          </p:cNvSpPr>
          <p:nvPr/>
        </p:nvSpPr>
        <p:spPr>
          <a:xfrm xmlns:a="http://schemas.openxmlformats.org/drawingml/2006/main">
            <a:off x="666750" y="1581150"/>
            <a:ext cx="10572750" cy="2914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5850" b="1">
                <a:solidFill>
                  <a:srgbClr val="F5F3EB"/>
                </a:solidFill>
                <a:latin typeface="IBM Plex Sans KR"/>
                <a:ea typeface="IBM Plex Sans KR"/>
                <a:cs typeface="IBM Plex Sans KR"/>
              </a:defRPr>
            </a:pPr>
            <a:r>
              <a:rPr sz="5850" b="1">
                <a:solidFill>
                  <a:srgbClr val="F5F3EB"/>
                </a:solidFill>
                <a:latin typeface="IBM Plex Sans KR"/>
                <a:ea typeface="IBM Plex Sans KR"/>
                <a:cs typeface="IBM Plex Sans KR"/>
              </a:rPr>
              <a:t>상품은 많은데,</a:t>
            </a:r>
          </a:p>
          <a:p xmlns:a="http://schemas.openxmlformats.org/drawingml/2006/main">
            <a:pPr>
              <a:defRPr sz="5850" b="1">
                <a:solidFill>
                  <a:srgbClr val="F5F3EB"/>
                </a:solidFill>
                <a:latin typeface="IBM Plex Sans KR"/>
                <a:ea typeface="IBM Plex Sans KR"/>
                <a:cs typeface="IBM Plex Sans KR"/>
              </a:defRPr>
            </a:pPr>
            <a:r>
              <a:rPr sz="5850" b="1">
                <a:solidFill>
                  <a:srgbClr val="F5F3EB"/>
                </a:solidFill>
                <a:latin typeface="IBM Plex Sans KR"/>
                <a:ea typeface="IBM Plex Sans KR"/>
                <a:cs typeface="IBM Plex Sans KR"/>
              </a:rPr>
              <a:t>내 생활은</a:t>
            </a:r>
          </a:p>
          <a:p xmlns:a="http://schemas.openxmlformats.org/drawingml/2006/main">
            <a:pPr>
              <a:defRPr sz="5850" b="1">
                <a:solidFill>
                  <a:srgbClr val="F5F3EB"/>
                </a:solidFill>
                <a:latin typeface="IBM Plex Sans KR"/>
                <a:ea typeface="IBM Plex Sans KR"/>
                <a:cs typeface="IBM Plex Sans KR"/>
              </a:defRPr>
            </a:pPr>
            <a:r>
              <a:rPr sz="5850" b="1">
                <a:solidFill>
                  <a:srgbClr val="F5F3EB"/>
                </a:solidFill>
                <a:latin typeface="IBM Plex Sans KR"/>
                <a:ea typeface="IBM Plex Sans KR"/>
                <a:cs typeface="IBM Plex Sans KR"/>
              </a:rPr>
              <a:t>잘 보이지 않는다</a:t>
            </a:r>
          </a:p>
        </p:txBody>
      </p:sp>
      <p:sp>
        <p:nvSpPr>
          <p:cNvPr id="3" name="problem-description">
            <a:extLst xmlns:a="http://schemas.openxmlformats.org/drawingml/2006/main">
              <a:ext uri="{FF2B5EF4-FFF2-40B4-BE49-F238E27FC236}">
                <a16:creationId xmlns:a16="http://schemas.microsoft.com/office/drawing/2014/main" id="{EF53988F-6459-48AB-AACB-C504D4E4F4B2}"/>
              </a:ext>
            </a:extLst>
          </p:cNvPr>
          <p:cNvSpPr>
            <a:spLocks xmlns:a="http://schemas.openxmlformats.org/drawingml/2006/main" noGrp="1"/>
          </p:cNvSpPr>
          <p:nvPr/>
        </p:nvSpPr>
        <p:spPr>
          <a:xfrm xmlns:a="http://schemas.openxmlformats.org/drawingml/2006/main">
            <a:off x="723900" y="5000625"/>
            <a:ext cx="8858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D5DCCD"/>
                </a:solidFill>
                <a:latin typeface="IBM Plex Sans KR"/>
                <a:ea typeface="IBM Plex Sans KR"/>
                <a:cs typeface="IBM Plex Sans KR"/>
              </a:defRPr>
            </a:pPr>
            <a:r>
              <a:rPr sz="2175" b="0">
                <a:solidFill>
                  <a:srgbClr val="D5DCCD"/>
                </a:solidFill>
                <a:latin typeface="IBM Plex Sans KR"/>
                <a:ea typeface="IBM Plex Sans KR"/>
                <a:cs typeface="IBM Plex Sans KR"/>
              </a:rPr>
              <a:t>GS SHOP의 상품을 내 생활과 연결하기 어려운</a:t>
            </a:r>
          </a:p>
          <a:p xmlns:a="http://schemas.openxmlformats.org/drawingml/2006/main">
            <a:pPr>
              <a:defRPr sz="2175" b="0">
                <a:solidFill>
                  <a:srgbClr val="D5DCCD"/>
                </a:solidFill>
                <a:latin typeface="IBM Plex Sans KR"/>
                <a:ea typeface="IBM Plex Sans KR"/>
                <a:cs typeface="IBM Plex Sans KR"/>
              </a:defRPr>
            </a:pPr>
            <a:r>
              <a:rPr sz="2175" b="0">
                <a:solidFill>
                  <a:srgbClr val="D5DCCD"/>
                </a:solidFill>
                <a:latin typeface="IBM Plex Sans KR"/>
                <a:ea typeface="IBM Plex Sans KR"/>
                <a:cs typeface="IBM Plex Sans KR"/>
              </a:rPr>
              <a:t>2030 고객의 쇼핑 경험에서 출발했다</a:t>
            </a:r>
          </a:p>
        </p:txBody>
      </p:sp>
      <p:sp>
        <p:nvSpPr>
          <p:cNvPr id="4" name="problem-disclosure">
            <a:extLst xmlns:a="http://schemas.openxmlformats.org/drawingml/2006/main">
              <a:ext uri="{FF2B5EF4-FFF2-40B4-BE49-F238E27FC236}">
                <a16:creationId xmlns:a16="http://schemas.microsoft.com/office/drawing/2014/main" id="{F57F8F41-B5EE-497E-82B1-6F567FE2835C}"/>
              </a:ext>
            </a:extLst>
          </p:cNvPr>
          <p:cNvSpPr>
            <a:spLocks xmlns:a="http://schemas.openxmlformats.org/drawingml/2006/main" noGrp="1"/>
          </p:cNvSpPr>
          <p:nvPr/>
        </p:nvSpPr>
        <p:spPr>
          <a:xfrm xmlns:a="http://schemas.openxmlformats.org/drawingml/2006/main">
            <a:off x="723900" y="6315075"/>
            <a:ext cx="952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b="0">
                <a:solidFill>
                  <a:srgbClr val="94A687"/>
                </a:solidFill>
                <a:latin typeface="IBM Plex Sans KR"/>
                <a:ea typeface="IBM Plex Sans KR"/>
                <a:cs typeface="IBM Plex Sans KR"/>
              </a:defRPr>
            </a:pPr>
            <a:r>
              <a:rPr sz="1350" b="0">
                <a:solidFill>
                  <a:srgbClr val="94A687"/>
                </a:solidFill>
                <a:latin typeface="IBM Plex Sans KR"/>
                <a:ea typeface="IBM Plex Sans KR"/>
                <a:cs typeface="IBM Plex Sans KR"/>
              </a:rPr>
              <a:t>기획에서 정의한 고객 문제 가설</a:t>
            </a:r>
          </a:p>
        </p:txBody>
      </p:sp>
    </p:spTree>
    <p:extLst>
      <p:ext uri="{BB962C8B-B14F-4D97-AF65-F5344CB8AC3E}">
        <p14:creationId xmlns:p14="http://schemas.microsoft.com/office/powerpoint/2010/main" val="712669169"/>
      </p:ext>
    </p:extLst>
  </p:cSld>
</p:sld>
</file>

<file path=ppt/slides/slide2.xml><?xml version="1.0" encoding="utf-8"?>
<p:sld xmlns:p="http://schemas.openxmlformats.org/presentationml/2006/main">
  <p:cSld>
    <p:bg>
      <p:bgPr>
        <a:solidFill xmlns:a="http://schemas.openxmlformats.org/drawingml/2006/main">
          <a:srgbClr val="F5F3EB"/>
        </a:solidFill>
      </p:bgPr>
    </p:bg>
    <p:spTree>
      <p:nvGrpSpPr>
        <p:cNvPr id="1" name=""/>
        <p:cNvGrpSpPr/>
        <p:nvPr/>
      </p:nvGrpSpPr>
      <p:grpSpPr>
        <a:xfrm xmlns:a="http://schemas.openxmlformats.org/drawingml/2006/main"/>
      </p:grpSpPr>
      <p:sp>
        <p:nvSpPr>
          <p:cNvPr id="6" name="reframe-title">
            <a:extLst xmlns:a="http://schemas.openxmlformats.org/drawingml/2006/main">
              <a:ext uri="{FF2B5EF4-FFF2-40B4-BE49-F238E27FC236}">
                <a16:creationId xmlns:a16="http://schemas.microsoft.com/office/drawing/2014/main" id="{FAE7D558-2C00-4E76-A132-87F68D8B151C}"/>
              </a:ext>
            </a:extLst>
          </p:cNvPr>
          <p:cNvSpPr>
            <a:spLocks xmlns:a="http://schemas.openxmlformats.org/drawingml/2006/main" noGrp="1"/>
          </p:cNvSpPr>
          <p:nvPr/>
        </p:nvSpPr>
        <p:spPr>
          <a:xfrm xmlns:a="http://schemas.openxmlformats.org/drawingml/2006/main">
            <a:off x="666750" y="723900"/>
            <a:ext cx="104775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4800" b="1">
                <a:solidFill>
                  <a:srgbClr val="263F35"/>
                </a:solidFill>
                <a:latin typeface="IBM Plex Sans KR"/>
                <a:ea typeface="IBM Plex Sans KR"/>
                <a:cs typeface="IBM Plex Sans KR"/>
              </a:defRPr>
            </a:pPr>
            <a:r>
              <a:rPr sz="4800" b="1">
                <a:solidFill>
                  <a:srgbClr val="263F35"/>
                </a:solidFill>
                <a:latin typeface="IBM Plex Sans KR"/>
                <a:ea typeface="IBM Plex Sans KR"/>
                <a:cs typeface="IBM Plex Sans KR"/>
              </a:rPr>
              <a:t>이 상품이 내 생활</a:t>
            </a:r>
          </a:p>
          <a:p xmlns:a="http://schemas.openxmlformats.org/drawingml/2006/main">
            <a:pPr>
              <a:defRPr sz="4800" b="1">
                <a:solidFill>
                  <a:srgbClr val="263F35"/>
                </a:solidFill>
                <a:latin typeface="IBM Plex Sans KR"/>
                <a:ea typeface="IBM Plex Sans KR"/>
                <a:cs typeface="IBM Plex Sans KR"/>
              </a:defRPr>
            </a:pPr>
            <a:r>
              <a:rPr sz="4800" b="1">
                <a:solidFill>
                  <a:srgbClr val="263F35"/>
                </a:solidFill>
                <a:latin typeface="IBM Plex Sans KR"/>
                <a:ea typeface="IBM Plex Sans KR"/>
                <a:cs typeface="IBM Plex Sans KR"/>
              </a:rPr>
              <a:t>어디에 들어올까?</a:t>
            </a:r>
          </a:p>
        </p:txBody>
      </p:sp>
      <p:sp>
        <p:nvSpPr>
          <p:cNvPr id="2" name="reframe-body">
            <a:extLst xmlns:a="http://schemas.openxmlformats.org/drawingml/2006/main">
              <a:ext uri="{FF2B5EF4-FFF2-40B4-BE49-F238E27FC236}">
                <a16:creationId xmlns:a16="http://schemas.microsoft.com/office/drawing/2014/main" id="{DC3EC422-70DE-4541-85F8-1F408FF947E2}"/>
              </a:ext>
            </a:extLst>
          </p:cNvPr>
          <p:cNvSpPr>
            <a:spLocks xmlns:a="http://schemas.openxmlformats.org/drawingml/2006/main" noGrp="1"/>
          </p:cNvSpPr>
          <p:nvPr/>
        </p:nvSpPr>
        <p:spPr>
          <a:xfrm xmlns:a="http://schemas.openxmlformats.org/drawingml/2006/main">
            <a:off x="714375" y="3295650"/>
            <a:ext cx="51435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0">
                <a:solidFill>
                  <a:srgbClr val="263F35"/>
                </a:solidFill>
                <a:latin typeface="IBM Plex Sans KR"/>
                <a:ea typeface="IBM Plex Sans KR"/>
                <a:cs typeface="IBM Plex Sans KR"/>
              </a:defRPr>
            </a:pPr>
            <a:r>
              <a:rPr sz="2550" b="0">
                <a:solidFill>
                  <a:srgbClr val="263F35"/>
                </a:solidFill>
                <a:latin typeface="IBM Plex Sans KR"/>
                <a:ea typeface="IBM Plex Sans KR"/>
                <a:cs typeface="IBM Plex Sans KR"/>
              </a:rPr>
              <a:t>이미 가진 물건에서 출발해</a:t>
            </a:r>
          </a:p>
          <a:p xmlns:a="http://schemas.openxmlformats.org/drawingml/2006/main">
            <a:pPr>
              <a:defRPr sz="2550" b="0">
                <a:solidFill>
                  <a:srgbClr val="263F35"/>
                </a:solidFill>
                <a:latin typeface="IBM Plex Sans KR"/>
                <a:ea typeface="IBM Plex Sans KR"/>
                <a:cs typeface="IBM Plex Sans KR"/>
              </a:defRPr>
            </a:pPr>
            <a:r>
              <a:rPr sz="2550" b="0">
                <a:solidFill>
                  <a:srgbClr val="263F35"/>
                </a:solidFill>
                <a:latin typeface="IBM Plex Sans KR"/>
                <a:ea typeface="IBM Plex Sans KR"/>
                <a:cs typeface="IBM Plex Sans KR"/>
              </a:rPr>
              <a:t>다음 쇼핑의 이유를 만든다</a:t>
            </a:r>
          </a:p>
        </p:txBody>
      </p:sp>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086b15588b8d42df"/>
          <a:stretch xmlns:a="http://schemas.openxmlformats.org/drawingml/2006/main"/>
        </p:blipFill>
        <p:spPr>
          <a:xfrm xmlns:a="http://schemas.openxmlformats.org/drawingml/2006/main">
            <a:off x="6567733" y="3086100"/>
            <a:ext cx="4619134" cy="1524000"/>
          </a:xfrm>
          <a:prstGeom xmlns:a="http://schemas.openxmlformats.org/drawingml/2006/main" prst="rect">
            <a:avLst/>
          </a:prstGeom>
        </p:spPr>
      </p:pic>
      <p:sp>
        <p:nvSpPr>
          <p:cNvPr id="4" name="room-caption">
            <a:extLst xmlns:a="http://schemas.openxmlformats.org/drawingml/2006/main">
              <a:ext uri="{FF2B5EF4-FFF2-40B4-BE49-F238E27FC236}">
                <a16:creationId xmlns:a16="http://schemas.microsoft.com/office/drawing/2014/main" id="{93248F09-9F9A-4821-A3C0-D9DFC405F322}"/>
              </a:ext>
            </a:extLst>
          </p:cNvPr>
          <p:cNvSpPr>
            <a:spLocks xmlns:a="http://schemas.openxmlformats.org/drawingml/2006/main" noGrp="1"/>
          </p:cNvSpPr>
          <p:nvPr/>
        </p:nvSpPr>
        <p:spPr>
          <a:xfrm xmlns:a="http://schemas.openxmlformats.org/drawingml/2006/main">
            <a:off x="6534150" y="489585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667963"/>
                </a:solidFill>
                <a:latin typeface="IBM Plex Sans KR"/>
                <a:ea typeface="IBM Plex Sans KR"/>
                <a:cs typeface="IBM Plex Sans KR"/>
              </a:defRPr>
            </a:pPr>
            <a:r>
              <a:rPr sz="1650" b="0">
                <a:solidFill>
                  <a:srgbClr val="667963"/>
                </a:solidFill>
                <a:latin typeface="IBM Plex Sans KR"/>
                <a:ea typeface="IBM Plex Sans KR"/>
                <a:cs typeface="IBM Plex Sans KR"/>
              </a:rPr>
              <a:t>내가 가진 쿠션과 조명이 놓인 거실</a:t>
            </a:r>
          </a:p>
        </p:txBody>
      </p:sp>
      <p:sp>
        <p:nvSpPr>
          <p:cNvPr id="5" name="reframe-note">
            <a:extLst xmlns:a="http://schemas.openxmlformats.org/drawingml/2006/main">
              <a:ext uri="{FF2B5EF4-FFF2-40B4-BE49-F238E27FC236}">
                <a16:creationId xmlns:a16="http://schemas.microsoft.com/office/drawing/2014/main" id="{B997D4F7-491C-4B51-9B7D-4B36E6822B98}"/>
              </a:ext>
            </a:extLst>
          </p:cNvPr>
          <p:cNvSpPr>
            <a:spLocks xmlns:a="http://schemas.openxmlformats.org/drawingml/2006/main" noGrp="1"/>
          </p:cNvSpPr>
          <p:nvPr/>
        </p:nvSpPr>
        <p:spPr>
          <a:xfrm xmlns:a="http://schemas.openxmlformats.org/drawingml/2006/main">
            <a:off x="714375" y="6276975"/>
            <a:ext cx="10572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b="0">
                <a:solidFill>
                  <a:srgbClr val="667963"/>
                </a:solidFill>
                <a:latin typeface="IBM Plex Sans KR"/>
                <a:ea typeface="IBM Plex Sans KR"/>
                <a:cs typeface="IBM Plex Sans KR"/>
              </a:defRPr>
            </a:pPr>
            <a:r>
              <a:rPr sz="1350" b="0">
                <a:solidFill>
                  <a:srgbClr val="667963"/>
                </a:solidFill>
                <a:latin typeface="IBM Plex Sans KR"/>
                <a:ea typeface="IBM Plex Sans KR"/>
                <a:cs typeface="IBM Plex Sans KR"/>
              </a:rPr>
              <a:t>공간 그림은 상품의 정확한 외형을 재현하지 않는 예시</a:t>
            </a:r>
          </a:p>
        </p:txBody>
      </p:sp>
    </p:spTree>
    <p:extLst>
      <p:ext uri="{BB962C8B-B14F-4D97-AF65-F5344CB8AC3E}">
        <p14:creationId xmlns:p14="http://schemas.microsoft.com/office/powerpoint/2010/main" val="820270008"/>
      </p:ext>
    </p:extLst>
  </p:cSld>
</p:sld>
</file>

<file path=ppt/slides/slide3.xml><?xml version="1.0" encoding="utf-8"?>
<p:sld xmlns:p="http://schemas.openxmlformats.org/presentationml/2006/main">
  <p:cSld>
    <p:bg>
      <p:bgPr>
        <a:solidFill xmlns:a="http://schemas.openxmlformats.org/drawingml/2006/main">
          <a:srgbClr val="F5F3EB"/>
        </a:solidFill>
      </p:bgPr>
    </p:bg>
    <p:spTree>
      <p:nvGrpSpPr>
        <p:cNvPr id="1" name=""/>
        <p:cNvGrpSpPr/>
        <p:nvPr/>
      </p:nvGrpSpPr>
      <p:grpSpPr>
        <a:xfrm xmlns:a="http://schemas.openxmlformats.org/drawingml/2006/main"/>
      </p:grpSpPr>
      <p:sp>
        <p:nvSpPr>
          <p:cNvPr id="6" name="product-brand">
            <a:extLst xmlns:a="http://schemas.openxmlformats.org/drawingml/2006/main">
              <a:ext uri="{FF2B5EF4-FFF2-40B4-BE49-F238E27FC236}">
                <a16:creationId xmlns:a16="http://schemas.microsoft.com/office/drawing/2014/main" id="{CF45F96B-5268-4F7B-953D-FA45FE140E39}"/>
              </a:ext>
            </a:extLst>
          </p:cNvPr>
          <p:cNvSpPr>
            <a:spLocks xmlns:a="http://schemas.openxmlformats.org/drawingml/2006/main" noGrp="1"/>
          </p:cNvSpPr>
          <p:nvPr/>
        </p:nvSpPr>
        <p:spPr>
          <a:xfrm xmlns:a="http://schemas.openxmlformats.org/drawingml/2006/main">
            <a:off x="666750" y="781050"/>
            <a:ext cx="60960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7200" b="1">
                <a:solidFill>
                  <a:srgbClr val="263F35"/>
                </a:solidFill>
                <a:latin typeface="IBM Plex Sans KR"/>
                <a:ea typeface="IBM Plex Sans KR"/>
                <a:cs typeface="IBM Plex Sans KR"/>
              </a:defRPr>
            </a:pPr>
            <a:r>
              <a:rPr sz="7200" b="1">
                <a:solidFill>
                  <a:srgbClr val="263F35"/>
                </a:solidFill>
                <a:latin typeface="IBM Plex Sans KR"/>
                <a:ea typeface="IBM Plex Sans KR"/>
                <a:cs typeface="IBM Plex Sans KR"/>
              </a:rPr>
              <a:t>G:Scene</a:t>
            </a:r>
          </a:p>
        </p:txBody>
      </p:sp>
      <p:sp>
        <p:nvSpPr>
          <p:cNvPr id="2" name="product-definition">
            <a:extLst xmlns:a="http://schemas.openxmlformats.org/drawingml/2006/main">
              <a:ext uri="{FF2B5EF4-FFF2-40B4-BE49-F238E27FC236}">
                <a16:creationId xmlns:a16="http://schemas.microsoft.com/office/drawing/2014/main" id="{66113A07-61C1-48E9-B5DA-2B485D82FAC9}"/>
              </a:ext>
            </a:extLst>
          </p:cNvPr>
          <p:cNvSpPr>
            <a:spLocks xmlns:a="http://schemas.openxmlformats.org/drawingml/2006/main" noGrp="1"/>
          </p:cNvSpPr>
          <p:nvPr/>
        </p:nvSpPr>
        <p:spPr>
          <a:xfrm xmlns:a="http://schemas.openxmlformats.org/drawingml/2006/main">
            <a:off x="723900" y="2495550"/>
            <a:ext cx="601980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900" b="1">
                <a:solidFill>
                  <a:srgbClr val="263F35"/>
                </a:solidFill>
                <a:latin typeface="IBM Plex Sans KR"/>
                <a:ea typeface="IBM Plex Sans KR"/>
                <a:cs typeface="IBM Plex Sans KR"/>
              </a:defRPr>
            </a:pPr>
            <a:r>
              <a:rPr sz="3900" b="1">
                <a:solidFill>
                  <a:srgbClr val="263F35"/>
                </a:solidFill>
                <a:latin typeface="IBM Plex Sans KR"/>
                <a:ea typeface="IBM Plex Sans KR"/>
                <a:cs typeface="IBM Plex Sans KR"/>
              </a:rPr>
              <a:t>내가 산 물건과</a:t>
            </a:r>
          </a:p>
          <a:p xmlns:a="http://schemas.openxmlformats.org/drawingml/2006/main">
            <a:pPr>
              <a:defRPr sz="3900" b="1">
                <a:solidFill>
                  <a:srgbClr val="263F35"/>
                </a:solidFill>
                <a:latin typeface="IBM Plex Sans KR"/>
                <a:ea typeface="IBM Plex Sans KR"/>
                <a:cs typeface="IBM Plex Sans KR"/>
              </a:defRPr>
            </a:pPr>
            <a:r>
              <a:rPr sz="3900" b="1">
                <a:solidFill>
                  <a:srgbClr val="263F35"/>
                </a:solidFill>
                <a:latin typeface="IBM Plex Sans KR"/>
                <a:ea typeface="IBM Plex Sans KR"/>
                <a:cs typeface="IBM Plex Sans KR"/>
              </a:rPr>
              <a:t>살아가는 나의 공간</a:t>
            </a:r>
          </a:p>
        </p:txBody>
      </p:sp>
      <p:sp>
        <p:nvSpPr>
          <p:cNvPr id="3" name="product-behavior">
            <a:extLst xmlns:a="http://schemas.openxmlformats.org/drawingml/2006/main">
              <a:ext uri="{FF2B5EF4-FFF2-40B4-BE49-F238E27FC236}">
                <a16:creationId xmlns:a16="http://schemas.microsoft.com/office/drawing/2014/main" id="{BC2596AA-91E8-45DB-BAFC-F31CA5805AB2}"/>
              </a:ext>
            </a:extLst>
          </p:cNvPr>
          <p:cNvSpPr>
            <a:spLocks xmlns:a="http://schemas.openxmlformats.org/drawingml/2006/main" noGrp="1"/>
          </p:cNvSpPr>
          <p:nvPr/>
        </p:nvSpPr>
        <p:spPr>
          <a:xfrm xmlns:a="http://schemas.openxmlformats.org/drawingml/2006/main">
            <a:off x="742950" y="4572000"/>
            <a:ext cx="548640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667963"/>
                </a:solidFill>
                <a:latin typeface="IBM Plex Sans KR"/>
                <a:ea typeface="IBM Plex Sans KR"/>
                <a:cs typeface="IBM Plex Sans KR"/>
              </a:defRPr>
            </a:pPr>
            <a:r>
              <a:rPr sz="2100" b="0">
                <a:solidFill>
                  <a:srgbClr val="667963"/>
                </a:solidFill>
                <a:latin typeface="IBM Plex Sans KR"/>
                <a:ea typeface="IBM Plex Sans KR"/>
                <a:cs typeface="IBM Plex Sans KR"/>
              </a:rPr>
              <a:t>캐릭터가 움직이고,</a:t>
            </a:r>
          </a:p>
          <a:p xmlns:a="http://schemas.openxmlformats.org/drawingml/2006/main">
            <a:pPr>
              <a:defRPr sz="2100" b="0">
                <a:solidFill>
                  <a:srgbClr val="667963"/>
                </a:solidFill>
                <a:latin typeface="IBM Plex Sans KR"/>
                <a:ea typeface="IBM Plex Sans KR"/>
                <a:cs typeface="IBM Plex Sans KR"/>
              </a:defRPr>
            </a:pPr>
            <a:r>
              <a:rPr sz="2100" b="0">
                <a:solidFill>
                  <a:srgbClr val="667963"/>
                </a:solidFill>
                <a:latin typeface="IBM Plex Sans KR"/>
                <a:ea typeface="IBM Plex Sans KR"/>
                <a:cs typeface="IBM Plex Sans KR"/>
              </a:rPr>
              <a:t>생활 속 물건이 쇼핑 입구가 된다</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22520a775bec4f42"/>
          <a:stretch xmlns:a="http://schemas.openxmlformats.org/drawingml/2006/main"/>
        </p:blipFill>
        <p:spPr>
          <a:xfrm xmlns:a="http://schemas.openxmlformats.org/drawingml/2006/main">
            <a:off x="7147849" y="361950"/>
            <a:ext cx="4144701" cy="6162675"/>
          </a:xfrm>
          <a:prstGeom xmlns:a="http://schemas.openxmlformats.org/drawingml/2006/main" prst="rect">
            <a:avLst/>
          </a:prstGeom>
        </p:spPr>
      </p:pic>
      <p:sp>
        <p:nvSpPr>
          <p:cNvPr id="5" name="product-note">
            <a:extLst xmlns:a="http://schemas.openxmlformats.org/drawingml/2006/main">
              <a:ext uri="{FF2B5EF4-FFF2-40B4-BE49-F238E27FC236}">
                <a16:creationId xmlns:a16="http://schemas.microsoft.com/office/drawing/2014/main" id="{DA4F3394-FAE5-4E1D-A36D-CA274335E644}"/>
              </a:ext>
            </a:extLst>
          </p:cNvPr>
          <p:cNvSpPr>
            <a:spLocks xmlns:a="http://schemas.openxmlformats.org/drawingml/2006/main" noGrp="1"/>
          </p:cNvSpPr>
          <p:nvPr/>
        </p:nvSpPr>
        <p:spPr>
          <a:xfrm xmlns:a="http://schemas.openxmlformats.org/drawingml/2006/main">
            <a:off x="742950" y="6219825"/>
            <a:ext cx="60388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b="0">
                <a:solidFill>
                  <a:srgbClr val="667963"/>
                </a:solidFill>
                <a:latin typeface="IBM Plex Sans KR"/>
                <a:ea typeface="IBM Plex Sans KR"/>
                <a:cs typeface="IBM Plex Sans KR"/>
              </a:defRPr>
            </a:pPr>
            <a:r>
              <a:rPr sz="1350" b="0">
                <a:solidFill>
                  <a:srgbClr val="667963"/>
                </a:solidFill>
                <a:latin typeface="IBM Plex Sans KR"/>
                <a:ea typeface="IBM Plex Sans KR"/>
                <a:cs typeface="IBM Plex Sans KR"/>
              </a:rPr>
              <a:t>가상 고객의 구매 상태를 연결한 실제 prototype</a:t>
            </a:r>
          </a:p>
        </p:txBody>
      </p:sp>
    </p:spTree>
    <p:extLst>
      <p:ext uri="{BB962C8B-B14F-4D97-AF65-F5344CB8AC3E}">
        <p14:creationId xmlns:p14="http://schemas.microsoft.com/office/powerpoint/2010/main" val="1741913337"/>
      </p:ext>
    </p:extLst>
  </p:cSld>
</p:sld>
</file>

<file path=ppt/slides/slide4.xml><?xml version="1.0" encoding="utf-8"?>
<p:sld xmlns:p="http://schemas.openxmlformats.org/presentationml/2006/main">
  <p:cSld>
    <p:bg>
      <p:bgPr>
        <a:solidFill xmlns:a="http://schemas.openxmlformats.org/drawingml/2006/main">
          <a:srgbClr val="F5F3EB"/>
        </a:solidFill>
      </p:bgPr>
    </p:bg>
    <p:spTree>
      <p:nvGrpSpPr>
        <p:cNvPr id="1" name=""/>
        <p:cNvGrpSpPr/>
        <p:nvPr/>
      </p:nvGrpSpPr>
      <p:grpSpPr>
        <a:xfrm xmlns:a="http://schemas.openxmlformats.org/drawingml/2006/main"/>
      </p:grpSpPr>
      <p:sp>
        <p:nvSpPr>
          <p:cNvPr id="12" name="experience-title">
            <a:extLst xmlns:a="http://schemas.openxmlformats.org/drawingml/2006/main">
              <a:ext uri="{FF2B5EF4-FFF2-40B4-BE49-F238E27FC236}">
                <a16:creationId xmlns:a16="http://schemas.microsoft.com/office/drawing/2014/main" id="{E12A9ADB-89D5-4242-8703-C068E19A2B42}"/>
              </a:ext>
            </a:extLst>
          </p:cNvPr>
          <p:cNvSpPr>
            <a:spLocks xmlns:a="http://schemas.openxmlformats.org/drawingml/2006/main" noGrp="1"/>
          </p:cNvSpPr>
          <p:nvPr/>
        </p:nvSpPr>
        <p:spPr>
          <a:xfrm xmlns:a="http://schemas.openxmlformats.org/drawingml/2006/main">
            <a:off x="666750" y="466725"/>
            <a:ext cx="10668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450" b="1">
                <a:solidFill>
                  <a:srgbClr val="263F35"/>
                </a:solidFill>
                <a:latin typeface="IBM Plex Sans KR"/>
                <a:ea typeface="IBM Plex Sans KR"/>
                <a:cs typeface="IBM Plex Sans KR"/>
              </a:defRPr>
            </a:pPr>
            <a:r>
              <a:rPr sz="3450" b="1">
                <a:solidFill>
                  <a:srgbClr val="263F35"/>
                </a:solidFill>
                <a:latin typeface="IBM Plex Sans KR"/>
                <a:ea typeface="IBM Plex Sans KR"/>
                <a:cs typeface="IBM Plex Sans KR"/>
              </a:rPr>
              <a:t>옷장을 열던 손길이</a:t>
            </a:r>
          </a:p>
          <a:p xmlns:a="http://schemas.openxmlformats.org/drawingml/2006/main">
            <a:pPr>
              <a:defRPr sz="3450" b="1">
                <a:solidFill>
                  <a:srgbClr val="263F35"/>
                </a:solidFill>
                <a:latin typeface="IBM Plex Sans KR"/>
                <a:ea typeface="IBM Plex Sans KR"/>
                <a:cs typeface="IBM Plex Sans KR"/>
              </a:defRPr>
            </a:pPr>
            <a:r>
              <a:rPr sz="3450" b="1">
                <a:solidFill>
                  <a:srgbClr val="263F35"/>
                </a:solidFill>
                <a:latin typeface="IBM Plex Sans KR"/>
                <a:ea typeface="IBM Plex Sans KR"/>
                <a:cs typeface="IBM Plex Sans KR"/>
              </a:rPr>
              <a:t>다음 쇼핑으로 이어진다</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99517197e7af4004"/>
          <a:stretch xmlns:a="http://schemas.openxmlformats.org/drawingml/2006/main"/>
        </p:blipFill>
        <p:spPr>
          <a:xfrm xmlns:a="http://schemas.openxmlformats.org/drawingml/2006/main">
            <a:off x="666750" y="2070327"/>
            <a:ext cx="2657475" cy="2784021"/>
          </a:xfrm>
          <a:prstGeom xmlns:a="http://schemas.openxmlformats.org/drawingml/2006/main" prst="rect">
            <a:avLst/>
          </a:prstGeom>
        </p:spPr>
      </p:pic>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e4f63e77c70f4d53"/>
          <a:stretch xmlns:a="http://schemas.openxmlformats.org/drawingml/2006/main"/>
        </p:blipFill>
        <p:spPr>
          <a:xfrm xmlns:a="http://schemas.openxmlformats.org/drawingml/2006/main">
            <a:off x="3895725" y="2259648"/>
            <a:ext cx="4143375" cy="2300603"/>
          </a:xfrm>
          <a:prstGeom xmlns:a="http://schemas.openxmlformats.org/drawingml/2006/main" prst="rect">
            <a:avLst/>
          </a:prstGeom>
        </p:spPr>
      </p:pic>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ef0e9f6c746847bd"/>
          <a:stretch xmlns:a="http://schemas.openxmlformats.org/drawingml/2006/main"/>
        </p:blipFill>
        <p:spPr>
          <a:xfrm xmlns:a="http://schemas.openxmlformats.org/drawingml/2006/main">
            <a:off x="8820150" y="2070327"/>
            <a:ext cx="2657475" cy="2784021"/>
          </a:xfrm>
          <a:prstGeom xmlns:a="http://schemas.openxmlformats.org/drawingml/2006/main" prst="rect">
            <a:avLst/>
          </a:prstGeom>
        </p:spPr>
      </p:pic>
      <p:sp>
        <p:nvSpPr>
          <p:cNvPr id="5" name="step-one-label">
            <a:extLst xmlns:a="http://schemas.openxmlformats.org/drawingml/2006/main">
              <a:ext uri="{FF2B5EF4-FFF2-40B4-BE49-F238E27FC236}">
                <a16:creationId xmlns:a16="http://schemas.microsoft.com/office/drawing/2014/main" id="{734AD5DE-5D81-43DE-84FC-72CA006A73FF}"/>
              </a:ext>
            </a:extLst>
          </p:cNvPr>
          <p:cNvSpPr>
            <a:spLocks xmlns:a="http://schemas.openxmlformats.org/drawingml/2006/main" noGrp="1"/>
          </p:cNvSpPr>
          <p:nvPr/>
        </p:nvSpPr>
        <p:spPr>
          <a:xfrm xmlns:a="http://schemas.openxmlformats.org/drawingml/2006/main">
            <a:off x="666750" y="5172075"/>
            <a:ext cx="2762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1">
                <a:solidFill>
                  <a:srgbClr val="263F35"/>
                </a:solidFill>
                <a:latin typeface="IBM Plex Sans KR"/>
                <a:ea typeface="IBM Plex Sans KR"/>
                <a:cs typeface="IBM Plex Sans KR"/>
              </a:defRPr>
            </a:pPr>
            <a:r>
              <a:rPr sz="1950" b="1">
                <a:solidFill>
                  <a:srgbClr val="263F35"/>
                </a:solidFill>
                <a:latin typeface="IBM Plex Sans KR"/>
                <a:ea typeface="IBM Plex Sans KR"/>
                <a:cs typeface="IBM Plex Sans KR"/>
              </a:rPr>
              <a:t>01   열고 둘러보기</a:t>
            </a:r>
          </a:p>
        </p:txBody>
      </p:sp>
      <p:sp>
        <p:nvSpPr>
          <p:cNvPr id="6" name="step-one">
            <a:extLst xmlns:a="http://schemas.openxmlformats.org/drawingml/2006/main">
              <a:ext uri="{FF2B5EF4-FFF2-40B4-BE49-F238E27FC236}">
                <a16:creationId xmlns:a16="http://schemas.microsoft.com/office/drawing/2014/main" id="{0DEED128-5E15-4120-9E7B-928FF98B284E}"/>
              </a:ext>
            </a:extLst>
          </p:cNvPr>
          <p:cNvSpPr>
            <a:spLocks xmlns:a="http://schemas.openxmlformats.org/drawingml/2006/main" noGrp="1"/>
          </p:cNvSpPr>
          <p:nvPr/>
        </p:nvSpPr>
        <p:spPr>
          <a:xfrm xmlns:a="http://schemas.openxmlformats.org/drawingml/2006/main">
            <a:off x="666750" y="5619750"/>
            <a:ext cx="2762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667963"/>
                </a:solidFill>
                <a:latin typeface="IBM Plex Sans KR"/>
                <a:ea typeface="IBM Plex Sans KR"/>
                <a:cs typeface="IBM Plex Sans KR"/>
              </a:defRPr>
            </a:pPr>
            <a:r>
              <a:rPr sz="1650" b="0">
                <a:solidFill>
                  <a:srgbClr val="667963"/>
                </a:solidFill>
                <a:latin typeface="IBM Plex Sans KR"/>
                <a:ea typeface="IBM Plex Sans KR"/>
                <a:cs typeface="IBM Plex Sans KR"/>
              </a:rPr>
              <a:t>생활 동작이 먼저</a:t>
            </a:r>
          </a:p>
        </p:txBody>
      </p:sp>
      <p:sp>
        <p:nvSpPr>
          <p:cNvPr id="7" name="step-two-label">
            <a:extLst xmlns:a="http://schemas.openxmlformats.org/drawingml/2006/main">
              <a:ext uri="{FF2B5EF4-FFF2-40B4-BE49-F238E27FC236}">
                <a16:creationId xmlns:a16="http://schemas.microsoft.com/office/drawing/2014/main" id="{CB7B3D7D-539F-4B4E-A819-8197CD7309D4}"/>
              </a:ext>
            </a:extLst>
          </p:cNvPr>
          <p:cNvSpPr>
            <a:spLocks xmlns:a="http://schemas.openxmlformats.org/drawingml/2006/main" noGrp="1"/>
          </p:cNvSpPr>
          <p:nvPr/>
        </p:nvSpPr>
        <p:spPr>
          <a:xfrm xmlns:a="http://schemas.openxmlformats.org/drawingml/2006/main">
            <a:off x="3895725" y="5172075"/>
            <a:ext cx="4191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1">
                <a:solidFill>
                  <a:srgbClr val="263F35"/>
                </a:solidFill>
                <a:latin typeface="IBM Plex Sans KR"/>
                <a:ea typeface="IBM Plex Sans KR"/>
                <a:cs typeface="IBM Plex Sans KR"/>
              </a:defRPr>
            </a:pPr>
            <a:r>
              <a:rPr sz="1950" b="1">
                <a:solidFill>
                  <a:srgbClr val="263F35"/>
                </a:solidFill>
                <a:latin typeface="IBM Plex Sans KR"/>
                <a:ea typeface="IBM Plex Sans KR"/>
                <a:cs typeface="IBM Plex Sans KR"/>
              </a:rPr>
              <a:t>02   입어본 뒤 적용</a:t>
            </a:r>
          </a:p>
        </p:txBody>
      </p:sp>
      <p:sp>
        <p:nvSpPr>
          <p:cNvPr id="8" name="step-two">
            <a:extLst xmlns:a="http://schemas.openxmlformats.org/drawingml/2006/main">
              <a:ext uri="{FF2B5EF4-FFF2-40B4-BE49-F238E27FC236}">
                <a16:creationId xmlns:a16="http://schemas.microsoft.com/office/drawing/2014/main" id="{BF8008F8-FCFD-4566-926F-C88037611842}"/>
              </a:ext>
            </a:extLst>
          </p:cNvPr>
          <p:cNvSpPr>
            <a:spLocks xmlns:a="http://schemas.openxmlformats.org/drawingml/2006/main" noGrp="1"/>
          </p:cNvSpPr>
          <p:nvPr/>
        </p:nvSpPr>
        <p:spPr>
          <a:xfrm xmlns:a="http://schemas.openxmlformats.org/drawingml/2006/main">
            <a:off x="3895725" y="5619750"/>
            <a:ext cx="4191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667963"/>
                </a:solidFill>
                <a:latin typeface="IBM Plex Sans KR"/>
                <a:ea typeface="IBM Plex Sans KR"/>
                <a:cs typeface="IBM Plex Sans KR"/>
              </a:defRPr>
            </a:pPr>
            <a:r>
              <a:rPr sz="1650" b="0">
                <a:solidFill>
                  <a:srgbClr val="667963"/>
                </a:solidFill>
                <a:latin typeface="IBM Plex Sans KR"/>
                <a:ea typeface="IBM Plex Sans KR"/>
                <a:cs typeface="IBM Plex Sans KR"/>
              </a:rPr>
              <a:t>내 착장을 바꾸는 명시적 선택</a:t>
            </a:r>
          </a:p>
        </p:txBody>
      </p:sp>
      <p:sp>
        <p:nvSpPr>
          <p:cNvPr id="9" name="step-three-label">
            <a:extLst xmlns:a="http://schemas.openxmlformats.org/drawingml/2006/main">
              <a:ext uri="{FF2B5EF4-FFF2-40B4-BE49-F238E27FC236}">
                <a16:creationId xmlns:a16="http://schemas.microsoft.com/office/drawing/2014/main" id="{98464D3E-E158-458E-AAB3-46EF06ADE122}"/>
              </a:ext>
            </a:extLst>
          </p:cNvPr>
          <p:cNvSpPr>
            <a:spLocks xmlns:a="http://schemas.openxmlformats.org/drawingml/2006/main" noGrp="1"/>
          </p:cNvSpPr>
          <p:nvPr/>
        </p:nvSpPr>
        <p:spPr>
          <a:xfrm xmlns:a="http://schemas.openxmlformats.org/drawingml/2006/main">
            <a:off x="8820150" y="517207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1">
                <a:solidFill>
                  <a:srgbClr val="263F35"/>
                </a:solidFill>
                <a:latin typeface="IBM Plex Sans KR"/>
                <a:ea typeface="IBM Plex Sans KR"/>
                <a:cs typeface="IBM Plex Sans KR"/>
              </a:defRPr>
            </a:pPr>
            <a:r>
              <a:rPr sz="1950" b="1">
                <a:solidFill>
                  <a:srgbClr val="263F35"/>
                </a:solidFill>
                <a:latin typeface="IBM Plex Sans KR"/>
                <a:ea typeface="IBM Plex Sans KR"/>
                <a:cs typeface="IBM Plex Sans KR"/>
              </a:rPr>
              <a:t>03   같은 방으로 복귀</a:t>
            </a:r>
          </a:p>
        </p:txBody>
      </p:sp>
      <p:sp>
        <p:nvSpPr>
          <p:cNvPr id="10" name="step-three">
            <a:extLst xmlns:a="http://schemas.openxmlformats.org/drawingml/2006/main">
              <a:ext uri="{FF2B5EF4-FFF2-40B4-BE49-F238E27FC236}">
                <a16:creationId xmlns:a16="http://schemas.microsoft.com/office/drawing/2014/main" id="{909C27E9-C93F-46DE-926A-A7759448A9B3}"/>
              </a:ext>
            </a:extLst>
          </p:cNvPr>
          <p:cNvSpPr>
            <a:spLocks xmlns:a="http://schemas.openxmlformats.org/drawingml/2006/main" noGrp="1"/>
          </p:cNvSpPr>
          <p:nvPr/>
        </p:nvSpPr>
        <p:spPr>
          <a:xfrm xmlns:a="http://schemas.openxmlformats.org/drawingml/2006/main">
            <a:off x="8820150" y="5619750"/>
            <a:ext cx="285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667963"/>
                </a:solidFill>
                <a:latin typeface="IBM Plex Sans KR"/>
                <a:ea typeface="IBM Plex Sans KR"/>
                <a:cs typeface="IBM Plex Sans KR"/>
              </a:defRPr>
            </a:pPr>
            <a:r>
              <a:rPr sz="1650" b="0">
                <a:solidFill>
                  <a:srgbClr val="667963"/>
                </a:solidFill>
                <a:latin typeface="IBM Plex Sans KR"/>
                <a:ea typeface="IBM Plex Sans KR"/>
                <a:cs typeface="IBM Plex Sans KR"/>
              </a:rPr>
              <a:t>적용한 착장을 유지</a:t>
            </a:r>
          </a:p>
        </p:txBody>
      </p:sp>
      <p:sp>
        <p:nvSpPr>
          <p:cNvPr id="11" name="flow-note">
            <a:extLst xmlns:a="http://schemas.openxmlformats.org/drawingml/2006/main">
              <a:ext uri="{FF2B5EF4-FFF2-40B4-BE49-F238E27FC236}">
                <a16:creationId xmlns:a16="http://schemas.microsoft.com/office/drawing/2014/main" id="{21507FDF-2754-42E1-BFBB-35101C9EB033}"/>
              </a:ext>
            </a:extLst>
          </p:cNvPr>
          <p:cNvSpPr>
            <a:spLocks xmlns:a="http://schemas.openxmlformats.org/drawingml/2006/main" noGrp="1"/>
          </p:cNvSpPr>
          <p:nvPr/>
        </p:nvSpPr>
        <p:spPr>
          <a:xfrm xmlns:a="http://schemas.openxmlformats.org/drawingml/2006/main">
            <a:off x="685800" y="6381750"/>
            <a:ext cx="10858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b="0">
                <a:solidFill>
                  <a:srgbClr val="667963"/>
                </a:solidFill>
                <a:latin typeface="IBM Plex Sans KR"/>
                <a:ea typeface="IBM Plex Sans KR"/>
                <a:cs typeface="IBM Plex Sans KR"/>
              </a:defRPr>
            </a:pPr>
            <a:r>
              <a:rPr sz="1350" b="0">
                <a:solidFill>
                  <a:srgbClr val="667963"/>
                </a:solidFill>
                <a:latin typeface="IBM Plex Sans KR"/>
                <a:ea typeface="IBM Plex Sans KR"/>
                <a:cs typeface="IBM Plex Sans KR"/>
              </a:rPr>
              <a:t>보유 상품만 착장 적용 가능. 공간의 옷은 실제 외형·가상 피팅이 아닌 예시</a:t>
            </a:r>
          </a:p>
        </p:txBody>
      </p:sp>
    </p:spTree>
    <p:extLst>
      <p:ext uri="{BB962C8B-B14F-4D97-AF65-F5344CB8AC3E}">
        <p14:creationId xmlns:p14="http://schemas.microsoft.com/office/powerpoint/2010/main" val="1745851773"/>
      </p:ext>
    </p:extLst>
  </p:cSld>
</p:sld>
</file>

<file path=ppt/slides/slide5.xml><?xml version="1.0" encoding="utf-8"?>
<p:sld xmlns:p="http://schemas.openxmlformats.org/presentationml/2006/main">
  <p:cSld>
    <p:bg>
      <p:bgPr>
        <a:solidFill xmlns:a="http://schemas.openxmlformats.org/drawingml/2006/main">
          <a:srgbClr val="263F35"/>
        </a:solidFill>
      </p:bgPr>
    </p:bg>
    <p:spTree>
      <p:nvGrpSpPr>
        <p:cNvPr id="1" name=""/>
        <p:cNvGrpSpPr/>
        <p:nvPr/>
      </p:nvGrpSpPr>
      <p:grpSpPr>
        <a:xfrm xmlns:a="http://schemas.openxmlformats.org/drawingml/2006/main"/>
      </p:grpSpPr>
      <p:sp>
        <p:nvSpPr>
          <p:cNvPr id="6" name="closing-headline">
            <a:extLst xmlns:a="http://schemas.openxmlformats.org/drawingml/2006/main">
              <a:ext uri="{FF2B5EF4-FFF2-40B4-BE49-F238E27FC236}">
                <a16:creationId xmlns:a16="http://schemas.microsoft.com/office/drawing/2014/main" id="{F6976FC2-FE57-4096-9993-4ED0C4BB8B8D}"/>
              </a:ext>
            </a:extLst>
          </p:cNvPr>
          <p:cNvSpPr>
            <a:spLocks xmlns:a="http://schemas.openxmlformats.org/drawingml/2006/main" noGrp="1"/>
          </p:cNvSpPr>
          <p:nvPr/>
        </p:nvSpPr>
        <p:spPr>
          <a:xfrm xmlns:a="http://schemas.openxmlformats.org/drawingml/2006/main">
            <a:off x="666750" y="609600"/>
            <a:ext cx="10668000" cy="1819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4800" b="1">
                <a:solidFill>
                  <a:srgbClr val="F5F3EB"/>
                </a:solidFill>
                <a:latin typeface="IBM Plex Sans KR"/>
                <a:ea typeface="IBM Plex Sans KR"/>
                <a:cs typeface="IBM Plex Sans KR"/>
              </a:defRPr>
            </a:pPr>
            <a:r>
              <a:rPr sz="4800" b="1">
                <a:solidFill>
                  <a:srgbClr val="F5F3EB"/>
                </a:solidFill>
                <a:latin typeface="IBM Plex Sans KR"/>
                <a:ea typeface="IBM Plex Sans KR"/>
                <a:cs typeface="IBM Plex Sans KR"/>
              </a:rPr>
              <a:t>다음 쇼핑의 출발점은</a:t>
            </a:r>
          </a:p>
          <a:p xmlns:a="http://schemas.openxmlformats.org/drawingml/2006/main">
            <a:pPr>
              <a:defRPr sz="4800" b="1">
                <a:solidFill>
                  <a:srgbClr val="F5F3EB"/>
                </a:solidFill>
                <a:latin typeface="IBM Plex Sans KR"/>
                <a:ea typeface="IBM Plex Sans KR"/>
                <a:cs typeface="IBM Plex Sans KR"/>
              </a:defRPr>
            </a:pPr>
            <a:r>
              <a:rPr sz="4800" b="1">
                <a:solidFill>
                  <a:srgbClr val="F5F3EB"/>
                </a:solidFill>
                <a:latin typeface="IBM Plex Sans KR"/>
                <a:ea typeface="IBM Plex Sans KR"/>
                <a:cs typeface="IBM Plex Sans KR"/>
              </a:rPr>
              <a:t>나의 생활</a:t>
            </a:r>
          </a:p>
        </p:txBody>
      </p:sp>
      <p:sp>
        <p:nvSpPr>
          <p:cNvPr id="2" name="closing-product">
            <a:extLst xmlns:a="http://schemas.openxmlformats.org/drawingml/2006/main">
              <a:ext uri="{FF2B5EF4-FFF2-40B4-BE49-F238E27FC236}">
                <a16:creationId xmlns:a16="http://schemas.microsoft.com/office/drawing/2014/main" id="{5F471F64-4DCB-41F0-AB04-6A1710342F4F}"/>
              </a:ext>
            </a:extLst>
          </p:cNvPr>
          <p:cNvSpPr>
            <a:spLocks xmlns:a="http://schemas.openxmlformats.org/drawingml/2006/main" noGrp="1"/>
          </p:cNvSpPr>
          <p:nvPr/>
        </p:nvSpPr>
        <p:spPr>
          <a:xfrm xmlns:a="http://schemas.openxmlformats.org/drawingml/2006/main">
            <a:off x="723900" y="2914650"/>
            <a:ext cx="99060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D5DCCD"/>
                </a:solidFill>
                <a:latin typeface="IBM Plex Sans KR"/>
                <a:ea typeface="IBM Plex Sans KR"/>
                <a:cs typeface="IBM Plex Sans KR"/>
              </a:defRPr>
            </a:pPr>
            <a:r>
              <a:rPr sz="2325" b="0">
                <a:solidFill>
                  <a:srgbClr val="D5DCCD"/>
                </a:solidFill>
                <a:latin typeface="IBM Plex Sans KR"/>
                <a:ea typeface="IBM Plex Sans KR"/>
                <a:cs typeface="IBM Plex Sans KR"/>
              </a:rPr>
              <a:t>기존 상품과 공급 역량을</a:t>
            </a:r>
          </a:p>
          <a:p xmlns:a="http://schemas.openxmlformats.org/drawingml/2006/main">
            <a:pPr>
              <a:defRPr sz="2325" b="0">
                <a:solidFill>
                  <a:srgbClr val="D5DCCD"/>
                </a:solidFill>
                <a:latin typeface="IBM Plex Sans KR"/>
                <a:ea typeface="IBM Plex Sans KR"/>
                <a:cs typeface="IBM Plex Sans KR"/>
              </a:defRPr>
            </a:pPr>
            <a:r>
              <a:rPr sz="2325" b="0">
                <a:solidFill>
                  <a:srgbClr val="D5DCCD"/>
                </a:solidFill>
                <a:latin typeface="IBM Plex Sans KR"/>
                <a:ea typeface="IBM Plex Sans KR"/>
                <a:cs typeface="IBM Plex Sans KR"/>
              </a:rPr>
              <a:t>고객의 생활 맥락에 연결하는 시도</a:t>
            </a:r>
          </a:p>
        </p:txBody>
      </p:sp>
      <p:sp>
        <p:nvSpPr>
          <p:cNvPr id="3" name="execution">
            <a:extLst xmlns:a="http://schemas.openxmlformats.org/drawingml/2006/main">
              <a:ext uri="{FF2B5EF4-FFF2-40B4-BE49-F238E27FC236}">
                <a16:creationId xmlns:a16="http://schemas.microsoft.com/office/drawing/2014/main" id="{4A906584-6C0A-4931-8B6B-C943671720C5}"/>
              </a:ext>
            </a:extLst>
          </p:cNvPr>
          <p:cNvSpPr>
            <a:spLocks xmlns:a="http://schemas.openxmlformats.org/drawingml/2006/main" noGrp="1"/>
          </p:cNvSpPr>
          <p:nvPr/>
        </p:nvSpPr>
        <p:spPr>
          <a:xfrm xmlns:a="http://schemas.openxmlformats.org/drawingml/2006/main">
            <a:off x="723900" y="4267200"/>
            <a:ext cx="93345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D5DCCD"/>
                </a:solidFill>
                <a:latin typeface="IBM Plex Sans KR"/>
                <a:ea typeface="IBM Plex Sans KR"/>
                <a:cs typeface="IBM Plex Sans KR"/>
              </a:defRPr>
            </a:pPr>
            <a:r>
              <a:rPr sz="2025" b="0">
                <a:solidFill>
                  <a:srgbClr val="D5DCCD"/>
                </a:solidFill>
                <a:latin typeface="IBM Plex Sans KR"/>
                <a:ea typeface="IBM Plex Sans KR"/>
                <a:cs typeface="IBM Plex Sans KR"/>
              </a:rPr>
              <a:t>Agent 팀은 구현과 검토를 나눠</a:t>
            </a:r>
          </a:p>
          <a:p xmlns:a="http://schemas.openxmlformats.org/drawingml/2006/main">
            <a:pPr>
              <a:defRPr sz="2025" b="0">
                <a:solidFill>
                  <a:srgbClr val="D5DCCD"/>
                </a:solidFill>
                <a:latin typeface="IBM Plex Sans KR"/>
                <a:ea typeface="IBM Plex Sans KR"/>
                <a:cs typeface="IBM Plex Sans KR"/>
              </a:defRPr>
            </a:pPr>
            <a:r>
              <a:rPr sz="2025" b="0">
                <a:solidFill>
                  <a:srgbClr val="D5DCCD"/>
                </a:solidFill>
                <a:latin typeface="IBM Plex Sans KR"/>
                <a:ea typeface="IBM Plex Sans KR"/>
                <a:cs typeface="IBM Plex Sans KR"/>
              </a:rPr>
              <a:t>작동하는 경험을 고치고 다시 확인했다</a:t>
            </a:r>
          </a:p>
        </p:txBody>
      </p:sp>
      <p:sp>
        <p:nvSpPr>
          <p:cNvPr id="4" name="closing-brand">
            <a:extLst xmlns:a="http://schemas.openxmlformats.org/drawingml/2006/main">
              <a:ext uri="{FF2B5EF4-FFF2-40B4-BE49-F238E27FC236}">
                <a16:creationId xmlns:a16="http://schemas.microsoft.com/office/drawing/2014/main" id="{35E1F8A6-9462-4823-A1A8-A5DC2AC56B34}"/>
              </a:ext>
            </a:extLst>
          </p:cNvPr>
          <p:cNvSpPr>
            <a:spLocks xmlns:a="http://schemas.openxmlformats.org/drawingml/2006/main" noGrp="1"/>
          </p:cNvSpPr>
          <p:nvPr/>
        </p:nvSpPr>
        <p:spPr>
          <a:xfrm xmlns:a="http://schemas.openxmlformats.org/drawingml/2006/main">
            <a:off x="7181850" y="5476875"/>
            <a:ext cx="44767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4950" b="1">
                <a:solidFill>
                  <a:srgbClr val="F5F3EB"/>
                </a:solidFill>
                <a:latin typeface="IBM Plex Sans KR"/>
                <a:ea typeface="IBM Plex Sans KR"/>
                <a:cs typeface="IBM Plex Sans KR"/>
              </a:defRPr>
            </a:pPr>
            <a:r>
              <a:rPr sz="4950" b="1">
                <a:solidFill>
                  <a:srgbClr val="F5F3EB"/>
                </a:solidFill>
                <a:latin typeface="IBM Plex Sans KR"/>
                <a:ea typeface="IBM Plex Sans KR"/>
                <a:cs typeface="IBM Plex Sans KR"/>
              </a:rPr>
              <a:t>G:Scene</a:t>
            </a:r>
          </a:p>
        </p:txBody>
      </p:sp>
      <p:sp>
        <p:nvSpPr>
          <p:cNvPr id="5" name="closing-disclosure">
            <a:extLst xmlns:a="http://schemas.openxmlformats.org/drawingml/2006/main">
              <a:ext uri="{FF2B5EF4-FFF2-40B4-BE49-F238E27FC236}">
                <a16:creationId xmlns:a16="http://schemas.microsoft.com/office/drawing/2014/main" id="{B558CBDF-B1DA-4E26-B1EF-07CAD4805D8C}"/>
              </a:ext>
            </a:extLst>
          </p:cNvPr>
          <p:cNvSpPr>
            <a:spLocks xmlns:a="http://schemas.openxmlformats.org/drawingml/2006/main" noGrp="1"/>
          </p:cNvSpPr>
          <p:nvPr/>
        </p:nvSpPr>
        <p:spPr>
          <a:xfrm xmlns:a="http://schemas.openxmlformats.org/drawingml/2006/main">
            <a:off x="723900" y="6267450"/>
            <a:ext cx="1057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b="0">
                <a:solidFill>
                  <a:srgbClr val="94A687"/>
                </a:solidFill>
                <a:latin typeface="IBM Plex Sans KR"/>
                <a:ea typeface="IBM Plex Sans KR"/>
                <a:cs typeface="IBM Plex Sans KR"/>
              </a:defRPr>
            </a:pPr>
            <a:r>
              <a:rPr sz="1350" b="0">
                <a:solidFill>
                  <a:srgbClr val="94A687"/>
                </a:solidFill>
                <a:latin typeface="IBM Plex Sans KR"/>
                <a:ea typeface="IBM Plex Sans KR"/>
                <a:cs typeface="IBM Plex Sans KR"/>
              </a:rPr>
              <a:t>구현한 prototype. 고객 효과와 전환 성과는 검증이 필요하다</a:t>
            </a:r>
          </a:p>
        </p:txBody>
      </p:sp>
    </p:spTree>
    <p:extLst>
      <p:ext uri="{BB962C8B-B14F-4D97-AF65-F5344CB8AC3E}">
        <p14:creationId xmlns:p14="http://schemas.microsoft.com/office/powerpoint/2010/main" val="142526994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2026-09-21T14:57:43.1520000Z</dcterms:created>
  <dcterms:modified xsi:type="dcterms:W3CDTF">2026-09-21T14:57:43.1520000Z</dcterms:modified>
</coreProperties>
</file>